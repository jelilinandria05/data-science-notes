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2B50EA-D189-416E-A71F-1CF74DF70EFD}">
          <p14:sldIdLst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7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IN" dirty="0" smtClean="0"/>
            <a:t>Overall Survival Distribution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LinFactNeighborY="260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303FDB0-09AB-4A5F-BA0E-3084BCCB100C}" type="presOf" srcId="{D2CDC435-4FD2-42FD-B4C2-77FBE1FBBFB9}" destId="{24CDA142-539E-4523-AF08-1F8557405163}" srcOrd="0" destOrd="0" presId="urn:microsoft.com/office/officeart/2005/8/layout/vList2"/>
    <dgm:cxn modelId="{A3279368-AF1D-4094-A6F6-443105EE3BE2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23D7C906-8E55-457F-93AA-F2C34672979B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IN" dirty="0" smtClean="0"/>
            <a:t>Gender-wise Survival Distribution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Y="-526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75CD080-7E9D-4FD9-A079-8C8A99A65C6C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DCFBD141-31B1-4B3D-B16F-89E1C77E34BF}" type="presOf" srcId="{D2CDC435-4FD2-42FD-B4C2-77FBE1FBBFB9}" destId="{24CDA142-539E-4523-AF08-1F8557405163}" srcOrd="0" destOrd="0" presId="urn:microsoft.com/office/officeart/2005/8/layout/vList2"/>
    <dgm:cxn modelId="{0E9BD400-2EDC-49C3-8754-AF3CC23CDD13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Survival</a:t>
          </a:r>
          <a:r>
            <a:rPr lang="en-US" baseline="0" dirty="0" smtClean="0"/>
            <a:t> Rate by Passenger Class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Y="260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765B382-88E5-4FB3-9E4F-EEB5D1027C9C}" type="presOf" srcId="{D2CDC435-4FD2-42FD-B4C2-77FBE1FBBFB9}" destId="{24CDA142-539E-4523-AF08-1F8557405163}" srcOrd="0" destOrd="0" presId="urn:microsoft.com/office/officeart/2005/8/layout/vList2"/>
    <dgm:cxn modelId="{CA014288-693A-498E-927D-49C774224697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CC873F82-51B8-40D0-A004-687A3384A665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Age Distribution of Passengers</a:t>
          </a:r>
          <a:endParaRPr lang="en-IN" dirty="0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Y="260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35A5751-C66B-47A2-982B-B8CC36C260BF}" type="presOf" srcId="{D2CDC435-4FD2-42FD-B4C2-77FBE1FBBFB9}" destId="{24CDA142-539E-4523-AF08-1F8557405163}" srcOrd="0" destOrd="0" presId="urn:microsoft.com/office/officeart/2005/8/layout/vList2"/>
    <dgm:cxn modelId="{310DB526-899D-4A19-A544-A4987D6396A2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2CD05011-E7CB-432F-B351-9C3341C9C939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Passengers</a:t>
          </a:r>
          <a:r>
            <a:rPr lang="en-US" baseline="0" dirty="0" smtClean="0"/>
            <a:t> Distribution by </a:t>
          </a:r>
          <a:r>
            <a:rPr lang="en-US" baseline="0" dirty="0" smtClean="0"/>
            <a:t>Embarkation Location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55067" custLinFactNeighborY="260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AF84318-8CBD-4DC3-A48A-74248F585C58}" type="presOf" srcId="{D2CDC435-4FD2-42FD-B4C2-77FBE1FBBFB9}" destId="{24CDA142-539E-4523-AF08-1F8557405163}" srcOrd="0" destOrd="0" presId="urn:microsoft.com/office/officeart/2005/8/layout/vList2"/>
    <dgm:cxn modelId="{5D3B5F5B-B490-4BC9-AA48-6CA0DB8B6E98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5FC243F5-9A98-4F7A-9C6B-698F72FA33D8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Family</a:t>
          </a:r>
          <a:r>
            <a:rPr lang="en-US" baseline="0" dirty="0" smtClean="0"/>
            <a:t> Impact on Survival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Y="260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40BB736-3909-49AA-A632-77D39798E77F}" type="presOf" srcId="{D2CDC435-4FD2-42FD-B4C2-77FBE1FBBFB9}" destId="{24CDA142-539E-4523-AF08-1F8557405163}" srcOrd="0" destOrd="0" presId="urn:microsoft.com/office/officeart/2005/8/layout/vList2"/>
    <dgm:cxn modelId="{9E3F8DBF-BF83-44B7-8F91-2664DD48AF0B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31E74351-8ABA-46F6-970D-B0E7CF3FFDEA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Survival Rate by Passenger Type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Y="-45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763365F-C8AF-4416-84D6-4D94DD8CA203}" type="presOf" srcId="{D2CDC435-4FD2-42FD-B4C2-77FBE1FBBFB9}" destId="{24CDA142-539E-4523-AF08-1F8557405163}" srcOrd="0" destOrd="0" presId="urn:microsoft.com/office/officeart/2005/8/layout/vList2"/>
    <dgm:cxn modelId="{CAC73FCA-0F1C-464E-899C-0EA9AB034D82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E2BFA353-C3B9-4787-BA1D-376A051B7EFD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Survival</a:t>
          </a:r>
          <a:r>
            <a:rPr lang="en-US" baseline="0" dirty="0" smtClean="0"/>
            <a:t> Rate by Deck Level</a:t>
          </a:r>
          <a:endParaRPr lang="en-IN" dirty="0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Y="2607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BEE7BCB-DC54-4CED-9994-27DCCE5EA83B}" type="presOf" srcId="{80950B11-2325-470E-8822-191E1469486F}" destId="{EFB2C07C-4AFF-462D-B6AB-917F96E796EF}" srcOrd="0" destOrd="0" presId="urn:microsoft.com/office/officeart/2005/8/layout/vList2"/>
    <dgm:cxn modelId="{4CC713EF-12C0-4A43-B2E5-B3776138DA07}" type="presOf" srcId="{D2CDC435-4FD2-42FD-B4C2-77FBE1FBBFB9}" destId="{24CDA142-539E-4523-AF08-1F8557405163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0562D407-FB9C-4E55-A7DA-32541C39EC46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2CDC435-4FD2-42FD-B4C2-77FBE1FBBF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950B11-2325-470E-8822-191E1469486F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Summary</a:t>
          </a:r>
          <a:endParaRPr lang="en-IN" dirty="0"/>
        </a:p>
      </dgm:t>
    </dgm:pt>
    <dgm:pt modelId="{9A808786-40E8-4ADC-9CB8-1F89BD900A91}" type="sibTrans" cxnId="{D4CBABED-0833-40EC-9C01-EAED18E8B096}">
      <dgm:prSet/>
      <dgm:spPr/>
      <dgm:t>
        <a:bodyPr/>
        <a:lstStyle/>
        <a:p>
          <a:endParaRPr lang="en-IN"/>
        </a:p>
      </dgm:t>
    </dgm:pt>
    <dgm:pt modelId="{8370967A-8245-474F-B258-D445892B3CCC}" type="parTrans" cxnId="{D4CBABED-0833-40EC-9C01-EAED18E8B096}">
      <dgm:prSet/>
      <dgm:spPr/>
      <dgm:t>
        <a:bodyPr/>
        <a:lstStyle/>
        <a:p>
          <a:endParaRPr lang="en-IN"/>
        </a:p>
      </dgm:t>
    </dgm:pt>
    <dgm:pt modelId="{24CDA142-539E-4523-AF08-1F8557405163}" type="pres">
      <dgm:prSet presAssocID="{D2CDC435-4FD2-42FD-B4C2-77FBE1FBBFB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FB2C07C-4AFF-462D-B6AB-917F96E796EF}" type="pres">
      <dgm:prSet presAssocID="{80950B11-2325-470E-8822-191E1469486F}" presName="parentText" presStyleLbl="node1" presStyleIdx="0" presStyleCnt="1" custScaleY="111836" custLinFactNeighborX="-1682" custLinFactNeighborY="-789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8BBDADC-F64F-43B4-AA01-86192B4DB1CC}" type="presOf" srcId="{D2CDC435-4FD2-42FD-B4C2-77FBE1FBBFB9}" destId="{24CDA142-539E-4523-AF08-1F8557405163}" srcOrd="0" destOrd="0" presId="urn:microsoft.com/office/officeart/2005/8/layout/vList2"/>
    <dgm:cxn modelId="{6E5D8D34-358A-43FD-B42B-7C8F5DFDFBBB}" type="presOf" srcId="{80950B11-2325-470E-8822-191E1469486F}" destId="{EFB2C07C-4AFF-462D-B6AB-917F96E796EF}" srcOrd="0" destOrd="0" presId="urn:microsoft.com/office/officeart/2005/8/layout/vList2"/>
    <dgm:cxn modelId="{D4CBABED-0833-40EC-9C01-EAED18E8B096}" srcId="{D2CDC435-4FD2-42FD-B4C2-77FBE1FBBFB9}" destId="{80950B11-2325-470E-8822-191E1469486F}" srcOrd="0" destOrd="0" parTransId="{8370967A-8245-474F-B258-D445892B3CCC}" sibTransId="{9A808786-40E8-4ADC-9CB8-1F89BD900A91}"/>
    <dgm:cxn modelId="{A5F7B100-1EDD-42B6-8CD1-DC2FEC131072}" type="presParOf" srcId="{24CDA142-539E-4523-AF08-1F8557405163}" destId="{EFB2C07C-4AFF-462D-B6AB-917F96E796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12890"/>
          <a:ext cx="6040582" cy="772200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dirty="0" smtClean="0"/>
            <a:t>Overall Survival Distribution</a:t>
          </a:r>
          <a:endParaRPr lang="en-IN" sz="3300" kern="1200" dirty="0"/>
        </a:p>
      </dsp:txBody>
      <dsp:txXfrm>
        <a:off x="37696" y="50586"/>
        <a:ext cx="5965190" cy="696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0"/>
          <a:ext cx="6040582" cy="78508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kern="1200" dirty="0" smtClean="0"/>
            <a:t>Gender-wise Survival Distribution</a:t>
          </a:r>
          <a:endParaRPr lang="en-IN" sz="3000" kern="1200" dirty="0"/>
        </a:p>
      </dsp:txBody>
      <dsp:txXfrm>
        <a:off x="38325" y="38325"/>
        <a:ext cx="5963932" cy="7084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2"/>
          <a:ext cx="6040582" cy="78508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Survival</a:t>
          </a:r>
          <a:r>
            <a:rPr lang="en-US" sz="3000" kern="1200" baseline="0" dirty="0" smtClean="0"/>
            <a:t> Rate by Passenger Class</a:t>
          </a:r>
          <a:endParaRPr lang="en-IN" sz="3000" kern="1200" dirty="0"/>
        </a:p>
      </dsp:txBody>
      <dsp:txXfrm>
        <a:off x="38325" y="38327"/>
        <a:ext cx="5963932" cy="7084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2"/>
          <a:ext cx="6040582" cy="78508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Age Distribution of Passengers</a:t>
          </a:r>
          <a:endParaRPr lang="en-IN" sz="3000" kern="1200" dirty="0"/>
        </a:p>
      </dsp:txBody>
      <dsp:txXfrm>
        <a:off x="38325" y="38327"/>
        <a:ext cx="5963932" cy="7084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23091"/>
          <a:ext cx="6040582" cy="76199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Passengers</a:t>
          </a:r>
          <a:r>
            <a:rPr lang="en-US" sz="2100" kern="1200" baseline="0" dirty="0" smtClean="0"/>
            <a:t> Distribution by </a:t>
          </a:r>
          <a:r>
            <a:rPr lang="en-US" sz="2100" kern="1200" baseline="0" dirty="0" smtClean="0"/>
            <a:t>Embarkation Location</a:t>
          </a:r>
          <a:endParaRPr lang="en-IN" sz="2100" kern="1200" dirty="0"/>
        </a:p>
      </dsp:txBody>
      <dsp:txXfrm>
        <a:off x="37198" y="60289"/>
        <a:ext cx="5966186" cy="6876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7698"/>
          <a:ext cx="6040582" cy="75891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Family</a:t>
          </a:r>
          <a:r>
            <a:rPr lang="en-US" sz="2900" kern="1200" baseline="0" dirty="0" smtClean="0"/>
            <a:t> Impact on Survival</a:t>
          </a:r>
          <a:endParaRPr lang="en-IN" sz="2900" kern="1200" dirty="0"/>
        </a:p>
      </dsp:txBody>
      <dsp:txXfrm>
        <a:off x="37047" y="44745"/>
        <a:ext cx="5966488" cy="6848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0"/>
          <a:ext cx="6040582" cy="78508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Survival Rate by Passenger Type</a:t>
          </a:r>
          <a:endParaRPr lang="en-IN" sz="3000" kern="1200" dirty="0"/>
        </a:p>
      </dsp:txBody>
      <dsp:txXfrm>
        <a:off x="38325" y="38325"/>
        <a:ext cx="5963932" cy="7084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2"/>
          <a:ext cx="6040582" cy="78508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Survival</a:t>
          </a:r>
          <a:r>
            <a:rPr lang="en-US" sz="3000" kern="1200" baseline="0" dirty="0" smtClean="0"/>
            <a:t> Rate by Deck Level</a:t>
          </a:r>
          <a:endParaRPr lang="en-IN" sz="3000" kern="1200" dirty="0"/>
        </a:p>
      </dsp:txBody>
      <dsp:txXfrm>
        <a:off x="38325" y="38327"/>
        <a:ext cx="5963932" cy="70843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2C07C-4AFF-462D-B6AB-917F96E796EF}">
      <dsp:nvSpPr>
        <dsp:cNvPr id="0" name=""/>
        <dsp:cNvSpPr/>
      </dsp:nvSpPr>
      <dsp:spPr>
        <a:xfrm>
          <a:off x="0" y="0"/>
          <a:ext cx="6040582" cy="78508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Summary</a:t>
          </a:r>
          <a:endParaRPr lang="en-IN" sz="3000" kern="1200" dirty="0"/>
        </a:p>
      </dsp:txBody>
      <dsp:txXfrm>
        <a:off x="38325" y="38325"/>
        <a:ext cx="5963932" cy="708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91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22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84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45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056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5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48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8370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64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9393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048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89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30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ECA72-6E07-4AB0-A541-1975F5A6FD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760769-DCDB-4F71-9146-AAD198F40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2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7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249" y="2404533"/>
            <a:ext cx="7766936" cy="1646302"/>
          </a:xfrm>
        </p:spPr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Titanic</a:t>
            </a:r>
            <a:r>
              <a:rPr lang="en-US" dirty="0" smtClean="0"/>
              <a:t> </a:t>
            </a:r>
            <a:r>
              <a:rPr lang="en-US" dirty="0" smtClean="0">
                <a:latin typeface="Arial Black" panose="020B0A04020102020204" pitchFamily="34" charset="0"/>
              </a:rPr>
              <a:t>Dataset Analysis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7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364" y="1243139"/>
            <a:ext cx="6132945" cy="3309565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10465608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621952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cs typeface="Arial" panose="020B0604020202020204" pitchFamily="34" charset="0"/>
              </a:rPr>
              <a:t>Out of a total of 891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passengers, 549 </a:t>
            </a:r>
            <a:r>
              <a:rPr lang="en-US" dirty="0">
                <a:latin typeface="+mj-lt"/>
                <a:cs typeface="Arial" panose="020B0604020202020204" pitchFamily="34" charset="0"/>
              </a:rPr>
              <a:t>passengers did not survive, while only 342 passengers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survived</a:t>
            </a:r>
            <a:r>
              <a:rPr lang="en-US" dirty="0">
                <a:latin typeface="+mj-lt"/>
                <a:cs typeface="Arial" panose="020B0604020202020204" pitchFamily="34" charset="0"/>
              </a:rPr>
              <a:t>.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 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This indicates that the majority of passengers did not survive, reflecting a relatively low overall survival rate.</a:t>
            </a:r>
          </a:p>
        </p:txBody>
      </p:sp>
    </p:spTree>
    <p:extLst>
      <p:ext uri="{BB962C8B-B14F-4D97-AF65-F5344CB8AC3E}">
        <p14:creationId xmlns:p14="http://schemas.microsoft.com/office/powerpoint/2010/main" val="6451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61510664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621953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Female passengers had a significantly higher survival rate compared to male passengers.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This indicates </a:t>
            </a:r>
            <a:r>
              <a:rPr lang="en-US" dirty="0" smtClean="0"/>
              <a:t>that gender played a major role in survival, with males </a:t>
            </a:r>
            <a:r>
              <a:rPr lang="en-US" dirty="0" smtClean="0"/>
              <a:t>experiencing </a:t>
            </a:r>
            <a:r>
              <a:rPr lang="en-US" dirty="0" smtClean="0"/>
              <a:t>much lower survival </a:t>
            </a:r>
            <a:r>
              <a:rPr lang="en-US" dirty="0" smtClean="0"/>
              <a:t>rates</a:t>
            </a:r>
            <a:r>
              <a:rPr lang="en-US" dirty="0" smtClean="0"/>
              <a:t>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0618" y="1186765"/>
            <a:ext cx="6539346" cy="337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4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028024857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621953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First-Class passengers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had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the highest survival rate compared to second and third-class passengers.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 smtClean="0"/>
              <a:t>survival rate decreases as the passenger class lowers, with third-class passengers having the lowest survival rate.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0690" y="1166267"/>
            <a:ext cx="6742545" cy="30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8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98017244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621953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Most passengers were between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20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to 40 years, indicating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a majority of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young to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middle-aged individuals.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There were </a:t>
            </a:r>
            <a:r>
              <a:rPr lang="en-US" dirty="0" smtClean="0"/>
              <a:t>relatively fewer </a:t>
            </a:r>
            <a:r>
              <a:rPr lang="en-US" dirty="0" smtClean="0"/>
              <a:t>elderly </a:t>
            </a:r>
            <a:r>
              <a:rPr lang="en-US" dirty="0" smtClean="0"/>
              <a:t>passengers, while a </a:t>
            </a:r>
            <a:r>
              <a:rPr lang="en-US" dirty="0" smtClean="0"/>
              <a:t>small proportion of </a:t>
            </a:r>
            <a:r>
              <a:rPr lang="en-US" dirty="0" smtClean="0"/>
              <a:t>children were also present on board.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1455" y="1216294"/>
            <a:ext cx="6308436" cy="326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1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436662075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483453"/>
            <a:ext cx="1010590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The majority of passengers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boarded from Southampton, making it the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primary embarkation </a:t>
            </a:r>
            <a:r>
              <a:rPr lang="en-US" dirty="0" smtClean="0">
                <a:latin typeface="+mj-lt"/>
                <a:cs typeface="Arial" panose="020B0604020202020204" pitchFamily="34" charset="0"/>
              </a:rPr>
              <a:t>point.</a:t>
            </a:r>
          </a:p>
          <a:p>
            <a:pPr marL="1080000" indent="-285750">
              <a:buFont typeface="Wingdings" panose="05000000000000000000" pitchFamily="2" charset="2"/>
              <a:buChar char="Ø"/>
            </a:pP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 smaller number of passengers embarked </a:t>
            </a:r>
            <a:r>
              <a:rPr lang="en-US" dirty="0" smtClean="0"/>
              <a:t>from Cherbourg and </a:t>
            </a:r>
            <a:r>
              <a:rPr lang="en-US" dirty="0" smtClean="0"/>
              <a:t>Queenstown, indicating lower passenger traffic from these locations.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9309" y="1164719"/>
            <a:ext cx="6253018" cy="317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3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54442807"/>
              </p:ext>
            </p:extLst>
          </p:nvPr>
        </p:nvGraphicFramePr>
        <p:xfrm>
          <a:off x="0" y="92364"/>
          <a:ext cx="6040582" cy="766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621953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Passengers traveling with family had a higher survival rate compared to those traveling alone.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data suggests that being accompanied by family members positively influenced the chances of survival.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655" y="1117600"/>
            <a:ext cx="6049818" cy="325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6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88612163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760452"/>
            <a:ext cx="101059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Women and children exhibited higher survival rates compared to men.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data indicates that passenger type significantly influenced survival, with men having the lowest survival rate.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5418" y="1229649"/>
            <a:ext cx="5892800" cy="325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2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18061967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4621953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Passengers located on higher decks, such as Deck B and C, exhibited higher survival rates. 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8365" y="5406783"/>
            <a:ext cx="928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Lower deck levels showed comparatively lower survival rates, indicating that deck location influenced survival chances.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0618" y="1165418"/>
            <a:ext cx="6539345" cy="32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8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62890482"/>
              </p:ext>
            </p:extLst>
          </p:nvPr>
        </p:nvGraphicFramePr>
        <p:xfrm>
          <a:off x="0" y="193964"/>
          <a:ext cx="6040582" cy="785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7140" y="1675553"/>
            <a:ext cx="101059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08000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+mj-lt"/>
                <a:cs typeface="Arial" panose="020B0604020202020204" pitchFamily="34" charset="0"/>
              </a:rPr>
              <a:t>Survival was influenced by multiple factors such as gender, class, age, family presence, and deck level.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88529" y="2555694"/>
            <a:ext cx="9284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Female passengers, children, and first-class passengers had higher survival rates.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705276" y="3152564"/>
            <a:ext cx="9169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Male passengers, individuals travelling alone, and third-class passengers had lower survival chances.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697663" y="4026433"/>
            <a:ext cx="918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Overall, both social factors and passenger location played a key role in survival.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358" y="2552315"/>
            <a:ext cx="7766936" cy="1646302"/>
          </a:xfrm>
        </p:spPr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THANK YOU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0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374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Trebuchet MS</vt:lpstr>
      <vt:lpstr>Wingdings</vt:lpstr>
      <vt:lpstr>Wingdings 3</vt:lpstr>
      <vt:lpstr>Facet</vt:lpstr>
      <vt:lpstr>Titanic Dataset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Dataset</dc:title>
  <dc:creator>USER</dc:creator>
  <cp:lastModifiedBy>USER</cp:lastModifiedBy>
  <cp:revision>23</cp:revision>
  <dcterms:created xsi:type="dcterms:W3CDTF">2026-03-19T18:03:43Z</dcterms:created>
  <dcterms:modified xsi:type="dcterms:W3CDTF">2026-03-23T16:18:39Z</dcterms:modified>
</cp:coreProperties>
</file>